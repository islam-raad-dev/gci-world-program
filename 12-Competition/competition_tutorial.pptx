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35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991">
          <p15:clr>
            <a:srgbClr val="000000"/>
          </p15:clr>
        </p15:guide>
        <p15:guide id="2" orient="horz" pos="2523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jEg33cLYR8mFeCGWezToZ9lfmC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91"/>
        <p:guide pos="252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fe99432a_0_23:notes"/>
          <p:cNvSpPr/>
          <p:nvPr>
            <p:ph idx="2" type="sldImg"/>
          </p:nvPr>
        </p:nvSpPr>
        <p:spPr>
          <a:xfrm>
            <a:off x="380906" y="685800"/>
            <a:ext cx="6096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dafe99432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cd209ec7aa9b8c0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1cd209ec7aa9b8c0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h1cd209ec7aa9b8c0_1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75c23df1bd692d6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75c23df1bd692d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h75c23df1bd692d6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75c23df1bd692d6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h75c23df1bd692d61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2e2ab6e898f34c66_2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h2e2ab6e898f34c66_2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h2e2ab6e898f34c66_2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2e2ab6e898f34c66_2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h2e2ab6e898f34c66_2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h2e2ab6e898f34c66_2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2e2ab6e898f34c66_2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h2e2ab6e898f34c66_2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h2e2ab6e898f34c66_2_4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2e2ab6e898f34c66_2_5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h2e2ab6e898f34c66_2_5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h2e2ab6e898f34c66_2_5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2e2ab6e898f34c66_2_6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2e2ab6e898f34c66_2_6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h2e2ab6e898f34c66_2_6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75c23df1bd692d6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h75c23df1bd692d61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2e2ab6e898f34c66_2_7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h2e2ab6e898f34c66_2_7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h2e2ab6e898f34c66_2_7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75c23df1bd692d6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h75c23df1bd692d61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h1cd209ec7aa9b8c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h1cd209ec7aa9b8c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h1cd209ec7aa9b8c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1cd209ec7aa9b8c0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h1cd209ec7aa9b8c0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h1cd209ec7aa9b8c0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75c23df1bd692d61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75c23df1bd692d6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h75c23df1bd692d61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2e2ab6e898f34c66_2_9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2e2ab6e898f34c66_2_9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h2e2ab6e898f34c66_2_9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2"/>
          <p:cNvSpPr txBox="1"/>
          <p:nvPr>
            <p:ph type="ctrTitle"/>
          </p:nvPr>
        </p:nvSpPr>
        <p:spPr>
          <a:xfrm>
            <a:off x="619917" y="3100353"/>
            <a:ext cx="10926014" cy="498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2"/>
          <p:cNvSpPr txBox="1"/>
          <p:nvPr>
            <p:ph idx="1" type="subTitle"/>
          </p:nvPr>
        </p:nvSpPr>
        <p:spPr>
          <a:xfrm>
            <a:off x="9730058" y="3796708"/>
            <a:ext cx="1815871" cy="249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8" name="Google Shape;18;p92"/>
          <p:cNvCxnSpPr/>
          <p:nvPr/>
        </p:nvCxnSpPr>
        <p:spPr>
          <a:xfrm>
            <a:off x="619917" y="3622143"/>
            <a:ext cx="1092601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" name="Google Shape;19;p92"/>
          <p:cNvSpPr txBox="1"/>
          <p:nvPr>
            <p:ph idx="2" type="body"/>
          </p:nvPr>
        </p:nvSpPr>
        <p:spPr>
          <a:xfrm>
            <a:off x="619915" y="4307748"/>
            <a:ext cx="4598223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2"/>
          <p:cNvSpPr txBox="1"/>
          <p:nvPr>
            <p:ph idx="3" type="body"/>
          </p:nvPr>
        </p:nvSpPr>
        <p:spPr>
          <a:xfrm>
            <a:off x="619915" y="251659"/>
            <a:ext cx="7706464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92"/>
          <p:cNvSpPr txBox="1"/>
          <p:nvPr>
            <p:ph idx="4" type="body"/>
          </p:nvPr>
        </p:nvSpPr>
        <p:spPr>
          <a:xfrm>
            <a:off x="619915" y="4663696"/>
            <a:ext cx="4598223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92"/>
          <p:cNvSpPr txBox="1"/>
          <p:nvPr>
            <p:ph idx="5" type="body"/>
          </p:nvPr>
        </p:nvSpPr>
        <p:spPr>
          <a:xfrm>
            <a:off x="619915" y="2566961"/>
            <a:ext cx="5951864" cy="387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background with a black square&#10;&#10;Description automatically generated with medium confidence" id="23" name="Google Shape;23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7599" y="3737201"/>
            <a:ext cx="3036014" cy="47545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92"/>
          <p:cNvSpPr txBox="1"/>
          <p:nvPr>
            <p:ph idx="12" type="sldNum"/>
          </p:nvPr>
        </p:nvSpPr>
        <p:spPr>
          <a:xfrm>
            <a:off x="11626984" y="6655981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目次">
  <p:cSld name="目次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3"/>
          <p:cNvSpPr txBox="1"/>
          <p:nvPr>
            <p:ph idx="12" type="sldNum"/>
          </p:nvPr>
        </p:nvSpPr>
        <p:spPr>
          <a:xfrm>
            <a:off x="11626984" y="6655983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93"/>
          <p:cNvCxnSpPr/>
          <p:nvPr/>
        </p:nvCxnSpPr>
        <p:spPr>
          <a:xfrm>
            <a:off x="619917" y="611809"/>
            <a:ext cx="1092601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" name="Google Shape;28;p93"/>
          <p:cNvSpPr txBox="1"/>
          <p:nvPr>
            <p:ph type="title"/>
          </p:nvPr>
        </p:nvSpPr>
        <p:spPr>
          <a:xfrm>
            <a:off x="619917" y="159494"/>
            <a:ext cx="10926014" cy="452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3"/>
          <p:cNvSpPr txBox="1"/>
          <p:nvPr>
            <p:ph idx="1" type="body"/>
          </p:nvPr>
        </p:nvSpPr>
        <p:spPr>
          <a:xfrm>
            <a:off x="619916" y="1399602"/>
            <a:ext cx="10926014" cy="690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">
  <p:cSld name="3_Title and Content 4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afe99432a_0_142"/>
          <p:cNvSpPr txBox="1"/>
          <p:nvPr>
            <p:ph type="title"/>
          </p:nvPr>
        </p:nvSpPr>
        <p:spPr>
          <a:xfrm>
            <a:off x="619915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b="1" i="0"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cxnSp>
        <p:nvCxnSpPr>
          <p:cNvPr id="32" name="Google Shape;32;g3dafe99432a_0_142"/>
          <p:cNvCxnSpPr/>
          <p:nvPr/>
        </p:nvCxnSpPr>
        <p:spPr>
          <a:xfrm>
            <a:off x="619916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dafe99432a_0_142"/>
          <p:cNvSpPr txBox="1"/>
          <p:nvPr>
            <p:ph idx="1" type="body"/>
          </p:nvPr>
        </p:nvSpPr>
        <p:spPr>
          <a:xfrm>
            <a:off x="619914" y="751737"/>
            <a:ext cx="109257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4" name="Google Shape;34;g3dafe99432a_0_142"/>
          <p:cNvSpPr txBox="1"/>
          <p:nvPr/>
        </p:nvSpPr>
        <p:spPr>
          <a:xfrm>
            <a:off x="11626972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ヘッダー">
  <p:cSld name="セクションヘッダー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94"/>
          <p:cNvCxnSpPr/>
          <p:nvPr/>
        </p:nvCxnSpPr>
        <p:spPr>
          <a:xfrm>
            <a:off x="619917" y="3622143"/>
            <a:ext cx="10926014" cy="0"/>
          </a:xfrm>
          <a:prstGeom prst="straightConnector1">
            <a:avLst/>
          </a:prstGeom>
          <a:noFill/>
          <a:ln cap="flat" cmpd="sng" w="3810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" name="Google Shape;37;p94"/>
          <p:cNvSpPr txBox="1"/>
          <p:nvPr>
            <p:ph type="title"/>
          </p:nvPr>
        </p:nvSpPr>
        <p:spPr>
          <a:xfrm>
            <a:off x="619916" y="3169827"/>
            <a:ext cx="10926014" cy="452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title"/>
          </p:nvPr>
        </p:nvSpPr>
        <p:spPr>
          <a:xfrm>
            <a:off x="619916" y="159493"/>
            <a:ext cx="10925923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" name="Google Shape;40;p1"/>
          <p:cNvCxnSpPr/>
          <p:nvPr/>
        </p:nvCxnSpPr>
        <p:spPr>
          <a:xfrm>
            <a:off x="619917" y="611809"/>
            <a:ext cx="10925923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 txBox="1"/>
          <p:nvPr>
            <p:ph idx="1" type="body"/>
          </p:nvPr>
        </p:nvSpPr>
        <p:spPr>
          <a:xfrm>
            <a:off x="619915" y="751737"/>
            <a:ext cx="10925923" cy="460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"/>
          <p:cNvSpPr txBox="1"/>
          <p:nvPr/>
        </p:nvSpPr>
        <p:spPr>
          <a:xfrm>
            <a:off x="11626984" y="6655981"/>
            <a:ext cx="566474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Logo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background with a black square&#10;&#10;Description automatically generated with medium confidence" id="44" name="Google Shape;4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2758" y="3234945"/>
            <a:ext cx="3708074" cy="580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（w/ Indent）">
  <p:cSld name="タイトルとコンテンツ（w/ Indent）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2"/>
          <p:cNvSpPr txBox="1"/>
          <p:nvPr>
            <p:ph type="title"/>
          </p:nvPr>
        </p:nvSpPr>
        <p:spPr>
          <a:xfrm>
            <a:off x="619919" y="159495"/>
            <a:ext cx="10926014" cy="452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2"/>
          <p:cNvSpPr txBox="1"/>
          <p:nvPr>
            <p:ph idx="12" type="sldNum"/>
          </p:nvPr>
        </p:nvSpPr>
        <p:spPr>
          <a:xfrm>
            <a:off x="11626984" y="6655981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" name="Google Shape;48;p102"/>
          <p:cNvCxnSpPr/>
          <p:nvPr/>
        </p:nvCxnSpPr>
        <p:spPr>
          <a:xfrm>
            <a:off x="619920" y="611809"/>
            <a:ext cx="1092601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" name="Google Shape;49;p102"/>
          <p:cNvSpPr txBox="1"/>
          <p:nvPr>
            <p:ph idx="1" type="body"/>
          </p:nvPr>
        </p:nvSpPr>
        <p:spPr>
          <a:xfrm>
            <a:off x="619917" y="1234811"/>
            <a:ext cx="10926014" cy="131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3"/>
          <p:cNvSpPr txBox="1"/>
          <p:nvPr>
            <p:ph type="ctrTitle"/>
          </p:nvPr>
        </p:nvSpPr>
        <p:spPr>
          <a:xfrm>
            <a:off x="1524199" y="1847970"/>
            <a:ext cx="9145191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3"/>
          <p:cNvSpPr txBox="1"/>
          <p:nvPr>
            <p:ph idx="1" type="subTitle"/>
          </p:nvPr>
        </p:nvSpPr>
        <p:spPr>
          <a:xfrm>
            <a:off x="1524199" y="3602038"/>
            <a:ext cx="9145191" cy="33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10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0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03"/>
          <p:cNvSpPr txBox="1"/>
          <p:nvPr>
            <p:ph idx="12" type="sldNum"/>
          </p:nvPr>
        </p:nvSpPr>
        <p:spPr>
          <a:xfrm>
            <a:off x="11626984" y="6655981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4"/>
          <p:cNvSpPr txBox="1"/>
          <p:nvPr>
            <p:ph type="ctrTitle"/>
          </p:nvPr>
        </p:nvSpPr>
        <p:spPr>
          <a:xfrm>
            <a:off x="619920" y="3100288"/>
            <a:ext cx="10925923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04"/>
          <p:cNvSpPr txBox="1"/>
          <p:nvPr>
            <p:ph idx="1" type="subTitle"/>
          </p:nvPr>
        </p:nvSpPr>
        <p:spPr>
          <a:xfrm>
            <a:off x="9730059" y="3728245"/>
            <a:ext cx="1815836" cy="386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04"/>
          <p:cNvSpPr txBox="1"/>
          <p:nvPr>
            <p:ph idx="2" type="body"/>
          </p:nvPr>
        </p:nvSpPr>
        <p:spPr>
          <a:xfrm>
            <a:off x="619918" y="4307752"/>
            <a:ext cx="2859372" cy="38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04"/>
          <p:cNvSpPr txBox="1"/>
          <p:nvPr>
            <p:ph idx="3" type="body"/>
          </p:nvPr>
        </p:nvSpPr>
        <p:spPr>
          <a:xfrm>
            <a:off x="619915" y="251663"/>
            <a:ext cx="4144140" cy="330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04"/>
          <p:cNvSpPr txBox="1"/>
          <p:nvPr>
            <p:ph idx="4" type="body"/>
          </p:nvPr>
        </p:nvSpPr>
        <p:spPr>
          <a:xfrm>
            <a:off x="619918" y="4663699"/>
            <a:ext cx="2859372" cy="38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04"/>
          <p:cNvSpPr txBox="1"/>
          <p:nvPr>
            <p:ph idx="5" type="body"/>
          </p:nvPr>
        </p:nvSpPr>
        <p:spPr>
          <a:xfrm>
            <a:off x="619919" y="2498553"/>
            <a:ext cx="5951875" cy="524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5"/>
          <p:cNvSpPr txBox="1"/>
          <p:nvPr>
            <p:ph type="title"/>
          </p:nvPr>
        </p:nvSpPr>
        <p:spPr>
          <a:xfrm>
            <a:off x="619919" y="79514"/>
            <a:ext cx="10925823" cy="532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3067"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65" name="Google Shape;65;p105"/>
          <p:cNvCxnSpPr/>
          <p:nvPr/>
        </p:nvCxnSpPr>
        <p:spPr>
          <a:xfrm>
            <a:off x="619919" y="611809"/>
            <a:ext cx="10925823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" name="Google Shape;66;p105"/>
          <p:cNvSpPr txBox="1"/>
          <p:nvPr>
            <p:ph idx="1" type="body"/>
          </p:nvPr>
        </p:nvSpPr>
        <p:spPr>
          <a:xfrm>
            <a:off x="619918" y="751740"/>
            <a:ext cx="10925823" cy="473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Meiryo"/>
                <a:ea typeface="Meiryo"/>
                <a:cs typeface="Meiryo"/>
                <a:sym typeface="Meiryo"/>
              </a:defRPr>
            </a:lvl1pPr>
            <a:lvl2pPr indent="-317500" lvl="1" marL="914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05"/>
          <p:cNvSpPr txBox="1"/>
          <p:nvPr>
            <p:ph idx="12" type="sldNum"/>
          </p:nvPr>
        </p:nvSpPr>
        <p:spPr>
          <a:xfrm>
            <a:off x="11580044" y="6561855"/>
            <a:ext cx="566474" cy="2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3_Title and Content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e2ab6e898f34c66_2_134"/>
          <p:cNvSpPr txBox="1"/>
          <p:nvPr>
            <p:ph type="title"/>
          </p:nvPr>
        </p:nvSpPr>
        <p:spPr>
          <a:xfrm>
            <a:off x="619919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1" i="0" sz="27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h2e2ab6e898f34c66_2_134"/>
          <p:cNvSpPr txBox="1"/>
          <p:nvPr>
            <p:ph idx="12" type="sldNum"/>
          </p:nvPr>
        </p:nvSpPr>
        <p:spPr>
          <a:xfrm>
            <a:off x="11626971" y="6655985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1" name="Google Shape;71;h2e2ab6e898f34c66_2_134"/>
          <p:cNvCxnSpPr/>
          <p:nvPr/>
        </p:nvCxnSpPr>
        <p:spPr>
          <a:xfrm>
            <a:off x="619919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h2e2ab6e898f34c66_2_134"/>
          <p:cNvSpPr txBox="1"/>
          <p:nvPr>
            <p:ph idx="1" type="body"/>
          </p:nvPr>
        </p:nvSpPr>
        <p:spPr>
          <a:xfrm>
            <a:off x="619917" y="802011"/>
            <a:ext cx="10925700" cy="61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73" name="Google Shape;73;h2e2ab6e898f34c66_2_134"/>
          <p:cNvSpPr txBox="1"/>
          <p:nvPr>
            <p:ph idx="2" type="body"/>
          </p:nvPr>
        </p:nvSpPr>
        <p:spPr>
          <a:xfrm>
            <a:off x="619917" y="1577975"/>
            <a:ext cx="10925700" cy="4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Arial"/>
              <a:buChar char="‒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Noto Sans Symbols"/>
              <a:buChar char="✔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1">
  <p:cSld name="3_Title and Content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2e2ab6e898f34c66_2_266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76" name="Google Shape;76;h2e2ab6e898f34c66_2_266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h2e2ab6e898f34c66_2_266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78" name="Google Shape;78;h2e2ab6e898f34c66_2_266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2">
  <p:cSld name="3_Title and Content_1_2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2e2ab6e898f34c66_2_397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81" name="Google Shape;81;h2e2ab6e898f34c66_2_397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h2e2ab6e898f34c66_2_397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83" name="Google Shape;83;h2e2ab6e898f34c66_2_397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3">
  <p:cSld name="3_Title and Content_1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2e2ab6e898f34c66_2_526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86" name="Google Shape;86;h2e2ab6e898f34c66_2_526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h2e2ab6e898f34c66_2_526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88" name="Google Shape;88;h2e2ab6e898f34c66_2_526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4">
  <p:cSld name="3_Title and Content_1_4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2e2ab6e898f34c66_2_658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91" name="Google Shape;91;h2e2ab6e898f34c66_2_658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h2e2ab6e898f34c66_2_658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93" name="Google Shape;93;h2e2ab6e898f34c66_2_658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5">
  <p:cSld name="3_Title and Content_1_5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2e2ab6e898f34c66_2_791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96" name="Google Shape;96;h2e2ab6e898f34c66_2_791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h2e2ab6e898f34c66_2_791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98" name="Google Shape;98;h2e2ab6e898f34c66_2_791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1 6">
  <p:cSld name="3_Title and Content_1_6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2e2ab6e898f34c66_2_928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101" name="Google Shape;101;h2e2ab6e898f34c66_2_928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h2e2ab6e898f34c66_2_928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3" name="Google Shape;103;h2e2ab6e898f34c66_2_928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 2">
  <p:cSld name="3_Title and Content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2e2ab6e898f34c66_2_1056"/>
          <p:cNvSpPr txBox="1"/>
          <p:nvPr>
            <p:ph type="title"/>
          </p:nvPr>
        </p:nvSpPr>
        <p:spPr>
          <a:xfrm>
            <a:off x="619916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i="0" sz="25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cxnSp>
        <p:nvCxnSpPr>
          <p:cNvPr id="106" name="Google Shape;106;h2e2ab6e898f34c66_2_1056"/>
          <p:cNvCxnSpPr/>
          <p:nvPr/>
        </p:nvCxnSpPr>
        <p:spPr>
          <a:xfrm>
            <a:off x="619917" y="611809"/>
            <a:ext cx="10925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h2e2ab6e898f34c66_2_1056"/>
          <p:cNvSpPr txBox="1"/>
          <p:nvPr>
            <p:ph idx="1" type="body"/>
          </p:nvPr>
        </p:nvSpPr>
        <p:spPr>
          <a:xfrm>
            <a:off x="619915" y="751737"/>
            <a:ext cx="10925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00"/>
              <a:buNone/>
              <a:defRPr/>
            </a:lvl5pPr>
            <a:lvl6pPr indent="-3365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6pPr>
            <a:lvl7pPr indent="-3365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7pPr>
            <a:lvl8pPr indent="-3365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8pPr>
            <a:lvl9pPr indent="-3365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Char char="•"/>
              <a:defRPr/>
            </a:lvl9pPr>
          </a:lstStyle>
          <a:p/>
        </p:txBody>
      </p:sp>
      <p:sp>
        <p:nvSpPr>
          <p:cNvPr id="108" name="Google Shape;108;h2e2ab6e898f34c66_2_1056"/>
          <p:cNvSpPr txBox="1"/>
          <p:nvPr/>
        </p:nvSpPr>
        <p:spPr>
          <a:xfrm>
            <a:off x="11626984" y="6655981"/>
            <a:ext cx="5664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50" spcFirstLastPara="1" rIns="9145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/>
          <p:nvPr>
            <p:ph idx="12" type="sldNum"/>
          </p:nvPr>
        </p:nvSpPr>
        <p:spPr>
          <a:xfrm>
            <a:off x="11626984" y="6655981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91"/>
          <p:cNvSpPr txBox="1"/>
          <p:nvPr>
            <p:ph idx="1" type="body"/>
          </p:nvPr>
        </p:nvSpPr>
        <p:spPr>
          <a:xfrm>
            <a:off x="761552" y="781695"/>
            <a:ext cx="9615152" cy="120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1"/>
          <p:cNvSpPr txBox="1"/>
          <p:nvPr>
            <p:ph type="title"/>
          </p:nvPr>
        </p:nvSpPr>
        <p:spPr>
          <a:xfrm>
            <a:off x="763293" y="235724"/>
            <a:ext cx="10646928" cy="370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1"/>
          <p:cNvSpPr txBox="1"/>
          <p:nvPr/>
        </p:nvSpPr>
        <p:spPr>
          <a:xfrm>
            <a:off x="3413334" y="6701328"/>
            <a:ext cx="5367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-US" sz="1000" u="none" cap="none" strike="noStrike">
                <a:solidFill>
                  <a:schemeClr val="dk1"/>
                </a:solidFill>
              </a:rPr>
              <a:t>©︎ </a:t>
            </a:r>
            <a:r>
              <a:rPr lang="en-US" sz="1000">
                <a:solidFill>
                  <a:schemeClr val="dk1"/>
                </a:solidFill>
              </a:rPr>
              <a:t>MATSUO-IWASAWA LAB, THE UNIVERSITY OF TOKYO</a:t>
            </a:r>
            <a:endParaRPr i="0" sz="1000" u="none" cap="none" strike="noStrike">
              <a:solidFill>
                <a:schemeClr val="dk1"/>
              </a:solidFill>
            </a:endParaRPr>
          </a:p>
        </p:txBody>
      </p:sp>
      <p:pic>
        <p:nvPicPr>
          <p:cNvPr descr="Logo&#10;&#10;Description automatically generated" id="14" name="Google Shape;14;p91"/>
          <p:cNvPicPr preferRelativeResize="0"/>
          <p:nvPr/>
        </p:nvPicPr>
        <p:blipFill rotWithShape="1">
          <a:blip r:embed="rId1">
            <a:alphaModFix/>
          </a:blip>
          <a:srcRect b="0" l="0" r="19779" t="0"/>
          <a:stretch/>
        </p:blipFill>
        <p:spPr>
          <a:xfrm>
            <a:off x="11580046" y="13329"/>
            <a:ext cx="566604" cy="60080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hyperlink" Target="https://www.kaggle.com/competitions/home-credit-default-risk/overview/description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ctrTitle"/>
          </p:nvPr>
        </p:nvSpPr>
        <p:spPr>
          <a:xfrm>
            <a:off x="620631" y="3100353"/>
            <a:ext cx="10924591" cy="498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/>
              <a:t>In-Class Competition Tutorial</a:t>
            </a:r>
            <a:endParaRPr/>
          </a:p>
        </p:txBody>
      </p:sp>
      <p:sp>
        <p:nvSpPr>
          <p:cNvPr id="114" name="Google Shape;114;p14"/>
          <p:cNvSpPr txBox="1"/>
          <p:nvPr>
            <p:ph idx="5" type="body"/>
          </p:nvPr>
        </p:nvSpPr>
        <p:spPr>
          <a:xfrm>
            <a:off x="619915" y="2566961"/>
            <a:ext cx="5951864" cy="387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GCI World 2026 </a:t>
            </a:r>
            <a:r>
              <a:rPr lang="en-US"/>
              <a:t>September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11626984" y="6655982"/>
            <a:ext cx="566604" cy="202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45"/>
          <p:cNvSpPr txBox="1"/>
          <p:nvPr>
            <p:ph type="title"/>
          </p:nvPr>
        </p:nvSpPr>
        <p:spPr>
          <a:xfrm>
            <a:off x="619916" y="159493"/>
            <a:ext cx="10926014" cy="452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21" name="Google Shape;121;p45"/>
          <p:cNvSpPr txBox="1"/>
          <p:nvPr>
            <p:ph idx="1" type="body"/>
          </p:nvPr>
        </p:nvSpPr>
        <p:spPr>
          <a:xfrm>
            <a:off x="620629" y="1399599"/>
            <a:ext cx="10924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What is In-Class Competition?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 to Submit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afe99432a_0_23"/>
          <p:cNvSpPr txBox="1"/>
          <p:nvPr>
            <p:ph type="title"/>
          </p:nvPr>
        </p:nvSpPr>
        <p:spPr>
          <a:xfrm>
            <a:off x="619915" y="159493"/>
            <a:ext cx="10925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/>
              <a:t>(Recap) Course Completion Requirements</a:t>
            </a:r>
            <a:endParaRPr/>
          </a:p>
        </p:txBody>
      </p:sp>
      <p:sp>
        <p:nvSpPr>
          <p:cNvPr id="127" name="Google Shape;127;g3dafe99432a_0_23"/>
          <p:cNvSpPr txBox="1"/>
          <p:nvPr>
            <p:ph idx="1" type="body"/>
          </p:nvPr>
        </p:nvSpPr>
        <p:spPr>
          <a:xfrm>
            <a:off x="619914" y="751737"/>
            <a:ext cx="10925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400"/>
              <a:buNone/>
            </a:pPr>
            <a:r>
              <a:rPr lang="en-US"/>
              <a:t>You will be evaluated on the following assignments:</a:t>
            </a:r>
            <a:endParaRPr/>
          </a:p>
        </p:txBody>
      </p:sp>
      <p:pic>
        <p:nvPicPr>
          <p:cNvPr id="128" name="Google Shape;128;g3dafe99432a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13" y="1602004"/>
            <a:ext cx="889000" cy="8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dafe99432a_0_23"/>
          <p:cNvSpPr txBox="1"/>
          <p:nvPr/>
        </p:nvSpPr>
        <p:spPr>
          <a:xfrm>
            <a:off x="1642779" y="1595100"/>
            <a:ext cx="1897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 Surveys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dafe99432a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13" y="3008879"/>
            <a:ext cx="889000" cy="66202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afe99432a_0_23"/>
          <p:cNvSpPr txBox="1"/>
          <p:nvPr/>
        </p:nvSpPr>
        <p:spPr>
          <a:xfrm>
            <a:off x="1642779" y="3052467"/>
            <a:ext cx="189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dafe99432a_0_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913" y="5670534"/>
            <a:ext cx="889000" cy="877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dafe99432a_0_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913" y="4252758"/>
            <a:ext cx="889000" cy="83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afe99432a_0_23"/>
          <p:cNvSpPr txBox="1"/>
          <p:nvPr/>
        </p:nvSpPr>
        <p:spPr>
          <a:xfrm>
            <a:off x="1642779" y="4181833"/>
            <a:ext cx="1897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Assignment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dafe99432a_0_23"/>
          <p:cNvSpPr txBox="1"/>
          <p:nvPr/>
        </p:nvSpPr>
        <p:spPr>
          <a:xfrm>
            <a:off x="1642779" y="5822100"/>
            <a:ext cx="189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Competition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dafe99432a_0_23"/>
          <p:cNvSpPr txBox="1"/>
          <p:nvPr/>
        </p:nvSpPr>
        <p:spPr>
          <a:xfrm>
            <a:off x="3999683" y="1615489"/>
            <a:ext cx="101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dafe99432a_0_23"/>
          <p:cNvSpPr txBox="1"/>
          <p:nvPr/>
        </p:nvSpPr>
        <p:spPr>
          <a:xfrm>
            <a:off x="3578829" y="2751800"/>
            <a:ext cx="121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dafe99432a_0_23"/>
          <p:cNvSpPr txBox="1"/>
          <p:nvPr/>
        </p:nvSpPr>
        <p:spPr>
          <a:xfrm>
            <a:off x="3999683" y="4260739"/>
            <a:ext cx="101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dafe99432a_0_23"/>
          <p:cNvSpPr txBox="1"/>
          <p:nvPr/>
        </p:nvSpPr>
        <p:spPr>
          <a:xfrm>
            <a:off x="3999683" y="5678505"/>
            <a:ext cx="101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afe99432a_0_23"/>
          <p:cNvSpPr/>
          <p:nvPr/>
        </p:nvSpPr>
        <p:spPr>
          <a:xfrm>
            <a:off x="3624035" y="1200100"/>
            <a:ext cx="1761900" cy="45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dafe99432a_0_23"/>
          <p:cNvSpPr/>
          <p:nvPr/>
        </p:nvSpPr>
        <p:spPr>
          <a:xfrm>
            <a:off x="7759304" y="1200100"/>
            <a:ext cx="1897800" cy="452400"/>
          </a:xfrm>
          <a:prstGeom prst="roundRect">
            <a:avLst>
              <a:gd fmla="val 16667" name="adj"/>
            </a:avLst>
          </a:prstGeom>
          <a:solidFill>
            <a:srgbClr val="1347A9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Honors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dafe99432a_0_23"/>
          <p:cNvSpPr/>
          <p:nvPr/>
        </p:nvSpPr>
        <p:spPr>
          <a:xfrm>
            <a:off x="9783897" y="1200100"/>
            <a:ext cx="1897800" cy="452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C3A6EF"/>
              </a:gs>
              <a:gs pos="100000">
                <a:srgbClr val="56A6F6"/>
              </a:gs>
            </a:gsLst>
            <a:lin ang="2700006" scaled="0"/>
          </a:gra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Outstanding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g3dafe99432a_0_23"/>
          <p:cNvCxnSpPr/>
          <p:nvPr/>
        </p:nvCxnSpPr>
        <p:spPr>
          <a:xfrm>
            <a:off x="5582604" y="1223967"/>
            <a:ext cx="2100" cy="53181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44" name="Google Shape;144;g3dafe99432a_0_23"/>
          <p:cNvSpPr txBox="1"/>
          <p:nvPr/>
        </p:nvSpPr>
        <p:spPr>
          <a:xfrm>
            <a:off x="5781347" y="4380500"/>
            <a:ext cx="176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Pass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dafe99432a_0_23"/>
          <p:cNvSpPr txBox="1"/>
          <p:nvPr/>
        </p:nvSpPr>
        <p:spPr>
          <a:xfrm>
            <a:off x="5781347" y="5801700"/>
            <a:ext cx="176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(optional)</a:t>
            </a:r>
            <a:endParaRPr b="0" i="0" sz="24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dafe99432a_0_23"/>
          <p:cNvSpPr txBox="1"/>
          <p:nvPr/>
        </p:nvSpPr>
        <p:spPr>
          <a:xfrm>
            <a:off x="8202926" y="1615489"/>
            <a:ext cx="101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7+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dafe99432a_0_23"/>
          <p:cNvSpPr txBox="1"/>
          <p:nvPr/>
        </p:nvSpPr>
        <p:spPr>
          <a:xfrm>
            <a:off x="8149521" y="2874800"/>
            <a:ext cx="111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14+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dafe99432a_0_23"/>
          <p:cNvSpPr txBox="1"/>
          <p:nvPr/>
        </p:nvSpPr>
        <p:spPr>
          <a:xfrm>
            <a:off x="7827311" y="4380500"/>
            <a:ext cx="176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10%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dafe99432a_0_23"/>
          <p:cNvSpPr txBox="1"/>
          <p:nvPr/>
        </p:nvSpPr>
        <p:spPr>
          <a:xfrm>
            <a:off x="7827311" y="5773867"/>
            <a:ext cx="176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20%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dafe99432a_0_23"/>
          <p:cNvSpPr txBox="1"/>
          <p:nvPr/>
        </p:nvSpPr>
        <p:spPr>
          <a:xfrm>
            <a:off x="7827311" y="5077183"/>
            <a:ext cx="176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dafe99432a_0_23"/>
          <p:cNvSpPr/>
          <p:nvPr/>
        </p:nvSpPr>
        <p:spPr>
          <a:xfrm>
            <a:off x="9783897" y="1768467"/>
            <a:ext cx="1897800" cy="4707600"/>
          </a:xfrm>
          <a:prstGeom prst="rect">
            <a:avLst/>
          </a:prstGeom>
          <a:gradFill>
            <a:gsLst>
              <a:gs pos="0">
                <a:srgbClr val="C3A6EF"/>
              </a:gs>
              <a:gs pos="100000">
                <a:srgbClr val="56A6F6"/>
              </a:gs>
            </a:gsLst>
            <a:lin ang="2700006" scaled="0"/>
          </a:gra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Selected Students </a:t>
            </a:r>
            <a:r>
              <a:rPr b="1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(based on overall scores)</a:t>
            </a:r>
            <a:endParaRPr b="1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dafe99432a_0_23"/>
          <p:cNvSpPr txBox="1"/>
          <p:nvPr/>
        </p:nvSpPr>
        <p:spPr>
          <a:xfrm>
            <a:off x="4463981" y="3148267"/>
            <a:ext cx="101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(=8 HW)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afe99432a_0_23"/>
          <p:cNvSpPr txBox="1"/>
          <p:nvPr/>
        </p:nvSpPr>
        <p:spPr>
          <a:xfrm>
            <a:off x="3635503" y="3615996"/>
            <a:ext cx="185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*3 points max,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points if late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dafe99432a_0_23"/>
          <p:cNvSpPr/>
          <p:nvPr/>
        </p:nvSpPr>
        <p:spPr>
          <a:xfrm>
            <a:off x="5734707" y="1200100"/>
            <a:ext cx="1897800" cy="452400"/>
          </a:xfrm>
          <a:prstGeom prst="roundRect">
            <a:avLst>
              <a:gd fmla="val 16667" name="adj"/>
            </a:avLst>
          </a:prstGeom>
          <a:solidFill>
            <a:srgbClr val="DDEAF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afe99432a_0_23"/>
          <p:cNvSpPr txBox="1"/>
          <p:nvPr/>
        </p:nvSpPr>
        <p:spPr>
          <a:xfrm>
            <a:off x="6178365" y="1615489"/>
            <a:ext cx="101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7+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afe99432a_0_23"/>
          <p:cNvSpPr txBox="1"/>
          <p:nvPr/>
        </p:nvSpPr>
        <p:spPr>
          <a:xfrm>
            <a:off x="6078152" y="2874800"/>
            <a:ext cx="1211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14+</a:t>
            </a:r>
            <a:b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dafe99432a_0_23"/>
          <p:cNvSpPr/>
          <p:nvPr/>
        </p:nvSpPr>
        <p:spPr>
          <a:xfrm>
            <a:off x="574925" y="5595650"/>
            <a:ext cx="11251800" cy="1062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dafe99432a_0_23"/>
          <p:cNvSpPr txBox="1"/>
          <p:nvPr/>
        </p:nvSpPr>
        <p:spPr>
          <a:xfrm>
            <a:off x="67375" y="4703150"/>
            <a:ext cx="7410600" cy="835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You need to participate in the competition to become Honors/Outstanding Student.</a:t>
            </a:r>
            <a:endParaRPr b="1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9"/>
          <p:cNvSpPr txBox="1"/>
          <p:nvPr>
            <p:ph type="title"/>
          </p:nvPr>
        </p:nvSpPr>
        <p:spPr>
          <a:xfrm>
            <a:off x="619916" y="3169827"/>
            <a:ext cx="10926014" cy="452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What is In-Class Competition?</a:t>
            </a:r>
            <a:endParaRPr/>
          </a:p>
        </p:txBody>
      </p:sp>
      <p:sp>
        <p:nvSpPr>
          <p:cNvPr id="164" name="Google Shape;164;p59"/>
          <p:cNvSpPr txBox="1"/>
          <p:nvPr>
            <p:ph idx="4294967295" type="sldNum"/>
          </p:nvPr>
        </p:nvSpPr>
        <p:spPr>
          <a:xfrm>
            <a:off x="11626850" y="6656388"/>
            <a:ext cx="566738" cy="20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9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About In-Class Competition</a:t>
            </a:r>
            <a:endParaRPr/>
          </a:p>
        </p:txBody>
      </p:sp>
      <p:sp>
        <p:nvSpPr>
          <p:cNvPr id="171" name="Google Shape;171;p69"/>
          <p:cNvSpPr txBox="1"/>
          <p:nvPr>
            <p:ph idx="1" type="body"/>
          </p:nvPr>
        </p:nvSpPr>
        <p:spPr>
          <a:xfrm>
            <a:off x="620628" y="751738"/>
            <a:ext cx="109245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Students compete with one another based on their scores through In-Class Competition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Do your best to achieve a high ranking!!!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1600"/>
              <a:t>*During the competition, public leaderboard will be visible. After the deadline, we will conduct the final evaluation on a separate private leaderboard.</a:t>
            </a:r>
            <a:endParaRPr sz="1600"/>
          </a:p>
        </p:txBody>
      </p:sp>
      <p:sp>
        <p:nvSpPr>
          <p:cNvPr id="172" name="Google Shape;172;p69"/>
          <p:cNvSpPr/>
          <p:nvPr/>
        </p:nvSpPr>
        <p:spPr>
          <a:xfrm>
            <a:off x="2536076" y="3099403"/>
            <a:ext cx="13062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9"/>
          <p:cNvSpPr/>
          <p:nvPr/>
        </p:nvSpPr>
        <p:spPr>
          <a:xfrm>
            <a:off x="4168933" y="3099403"/>
            <a:ext cx="32223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9"/>
          <p:cNvSpPr/>
          <p:nvPr/>
        </p:nvSpPr>
        <p:spPr>
          <a:xfrm>
            <a:off x="7717675" y="3099403"/>
            <a:ext cx="22641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9"/>
          <p:cNvSpPr/>
          <p:nvPr/>
        </p:nvSpPr>
        <p:spPr>
          <a:xfrm>
            <a:off x="2536076" y="3915832"/>
            <a:ext cx="13062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9"/>
          <p:cNvSpPr/>
          <p:nvPr/>
        </p:nvSpPr>
        <p:spPr>
          <a:xfrm>
            <a:off x="2536076" y="4732261"/>
            <a:ext cx="13062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9"/>
          <p:cNvSpPr/>
          <p:nvPr/>
        </p:nvSpPr>
        <p:spPr>
          <a:xfrm>
            <a:off x="2536076" y="5548690"/>
            <a:ext cx="13062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9"/>
          <p:cNvSpPr txBox="1"/>
          <p:nvPr/>
        </p:nvSpPr>
        <p:spPr>
          <a:xfrm>
            <a:off x="786179" y="2749779"/>
            <a:ext cx="305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Leaderboard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9"/>
          <p:cNvSpPr/>
          <p:nvPr/>
        </p:nvSpPr>
        <p:spPr>
          <a:xfrm>
            <a:off x="4168933" y="3915832"/>
            <a:ext cx="32223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25UT_Luffy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9"/>
          <p:cNvSpPr/>
          <p:nvPr/>
        </p:nvSpPr>
        <p:spPr>
          <a:xfrm>
            <a:off x="4168933" y="4732261"/>
            <a:ext cx="32223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25UT_Naruto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9"/>
          <p:cNvSpPr/>
          <p:nvPr/>
        </p:nvSpPr>
        <p:spPr>
          <a:xfrm>
            <a:off x="4168933" y="5548690"/>
            <a:ext cx="32223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25UT_Tanjiro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9"/>
          <p:cNvSpPr/>
          <p:nvPr/>
        </p:nvSpPr>
        <p:spPr>
          <a:xfrm>
            <a:off x="7717674" y="3915832"/>
            <a:ext cx="22641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0.74838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9"/>
          <p:cNvSpPr/>
          <p:nvPr/>
        </p:nvSpPr>
        <p:spPr>
          <a:xfrm>
            <a:off x="7717673" y="4732261"/>
            <a:ext cx="22641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0.74114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9"/>
          <p:cNvSpPr/>
          <p:nvPr/>
        </p:nvSpPr>
        <p:spPr>
          <a:xfrm>
            <a:off x="7717672" y="5548690"/>
            <a:ext cx="2264100" cy="620400"/>
          </a:xfrm>
          <a:prstGeom prst="rect">
            <a:avLst/>
          </a:prstGeom>
          <a:solidFill>
            <a:srgbClr val="0074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0.73355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1cd209ec7aa9b8c0_1_18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About In-Class Competition</a:t>
            </a:r>
            <a:endParaRPr/>
          </a:p>
        </p:txBody>
      </p:sp>
      <p:sp>
        <p:nvSpPr>
          <p:cNvPr id="191" name="Google Shape;191;h1cd209ec7aa9b8c0_1_18"/>
          <p:cNvSpPr txBox="1"/>
          <p:nvPr>
            <p:ph idx="1" type="body"/>
          </p:nvPr>
        </p:nvSpPr>
        <p:spPr>
          <a:xfrm>
            <a:off x="620628" y="751738"/>
            <a:ext cx="10924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The in-class competition is modified version of the </a:t>
            </a:r>
            <a:r>
              <a:rPr b="1" lang="en-US"/>
              <a:t>“Home Credit Default Risk” </a:t>
            </a:r>
            <a:r>
              <a:rPr lang="en-US"/>
              <a:t>competition originally held on Kaggle.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Your task is to </a:t>
            </a:r>
            <a:r>
              <a:rPr b="1" lang="en-US"/>
              <a:t>build a model to predict the probability of customer loan default based on the provided customer data.</a:t>
            </a:r>
            <a:endParaRPr b="1"/>
          </a:p>
        </p:txBody>
      </p:sp>
      <p:pic>
        <p:nvPicPr>
          <p:cNvPr id="192" name="Google Shape;192;h1cd209ec7aa9b8c0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050" y="2349900"/>
            <a:ext cx="5721475" cy="38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h1cd209ec7aa9b8c0_1_18"/>
          <p:cNvSpPr txBox="1"/>
          <p:nvPr/>
        </p:nvSpPr>
        <p:spPr>
          <a:xfrm>
            <a:off x="3236050" y="6247000"/>
            <a:ext cx="60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Source: Kaggle, “Home Credit Default Risk” — Image: Home Credit Group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u="sng">
                <a:solidFill>
                  <a:schemeClr val="hlink"/>
                </a:solidFill>
                <a:hlinkClick r:id="rId4"/>
              </a:rPr>
              <a:t>https://www.kaggle.com/competitions/home-credit-default-risk/overview/description</a:t>
            </a:r>
            <a:endParaRPr sz="9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75c23df1bd692d61_0_0"/>
          <p:cNvSpPr txBox="1"/>
          <p:nvPr>
            <p:ph type="title"/>
          </p:nvPr>
        </p:nvSpPr>
        <p:spPr>
          <a:xfrm>
            <a:off x="619919" y="79514"/>
            <a:ext cx="10925700" cy="53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Submission Deadline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75c23df1bd692d61_0_0"/>
          <p:cNvSpPr txBox="1"/>
          <p:nvPr>
            <p:ph idx="1" type="body"/>
          </p:nvPr>
        </p:nvSpPr>
        <p:spPr>
          <a:xfrm>
            <a:off x="619925" y="2467275"/>
            <a:ext cx="10925700" cy="14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Deadline: November 20th 1:00 AM UTC</a:t>
            </a:r>
            <a:endParaRPr b="1" sz="4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Submissions open: October 2nd 11:00 AM UTC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75c23df1bd692d61_0_0"/>
          <p:cNvSpPr txBox="1"/>
          <p:nvPr>
            <p:ph idx="12" type="sldNum"/>
          </p:nvPr>
        </p:nvSpPr>
        <p:spPr>
          <a:xfrm>
            <a:off x="11580044" y="6561855"/>
            <a:ext cx="566400" cy="201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75c23df1bd692d61_0_79"/>
          <p:cNvSpPr txBox="1"/>
          <p:nvPr>
            <p:ph type="title"/>
          </p:nvPr>
        </p:nvSpPr>
        <p:spPr>
          <a:xfrm>
            <a:off x="619916" y="3169827"/>
            <a:ext cx="10926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How to Get Started</a:t>
            </a:r>
            <a:endParaRPr/>
          </a:p>
        </p:txBody>
      </p:sp>
      <p:sp>
        <p:nvSpPr>
          <p:cNvPr id="207" name="Google Shape;207;h75c23df1bd692d61_0_79"/>
          <p:cNvSpPr txBox="1"/>
          <p:nvPr>
            <p:ph idx="4294967295" type="sldNum"/>
          </p:nvPr>
        </p:nvSpPr>
        <p:spPr>
          <a:xfrm>
            <a:off x="11626850" y="6656388"/>
            <a:ext cx="566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2e2ab6e898f34c66_2_140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1. Download the materials</a:t>
            </a:r>
            <a:endParaRPr/>
          </a:p>
        </p:txBody>
      </p:sp>
      <p:grpSp>
        <p:nvGrpSpPr>
          <p:cNvPr id="214" name="Google Shape;214;h2e2ab6e898f34c66_2_140"/>
          <p:cNvGrpSpPr/>
          <p:nvPr/>
        </p:nvGrpSpPr>
        <p:grpSpPr>
          <a:xfrm>
            <a:off x="620627" y="1545988"/>
            <a:ext cx="10928237" cy="4679399"/>
            <a:chOff x="620627" y="1545988"/>
            <a:chExt cx="10928237" cy="4679399"/>
          </a:xfrm>
        </p:grpSpPr>
        <p:pic>
          <p:nvPicPr>
            <p:cNvPr descr="グラフィカル ユーザー インターフェイス, アプリケーション&#10;&#10;AI 生成コンテンツは誤りを含む可能性があります。" id="215" name="Google Shape;215;h2e2ab6e898f34c66_2_1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0627" y="1545988"/>
              <a:ext cx="10928237" cy="4679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h2e2ab6e898f34c66_2_140" title="Screenshot 2026-10-02 at 10.38.59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17400" y="2163025"/>
              <a:ext cx="7085676" cy="2594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h2e2ab6e898f34c66_2_140"/>
          <p:cNvSpPr txBox="1"/>
          <p:nvPr>
            <p:ph idx="1" type="body"/>
          </p:nvPr>
        </p:nvSpPr>
        <p:spPr>
          <a:xfrm>
            <a:off x="620628" y="751738"/>
            <a:ext cx="10924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Download the “competition” folder from the class materials</a:t>
            </a:r>
            <a:endParaRPr/>
          </a:p>
        </p:txBody>
      </p:sp>
      <p:sp>
        <p:nvSpPr>
          <p:cNvPr id="218" name="Google Shape;218;h2e2ab6e898f34c66_2_140"/>
          <p:cNvSpPr/>
          <p:nvPr/>
        </p:nvSpPr>
        <p:spPr>
          <a:xfrm>
            <a:off x="2617400" y="3153036"/>
            <a:ext cx="8382300" cy="33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2e2ab6e898f34c66_2_140"/>
          <p:cNvSpPr txBox="1"/>
          <p:nvPr/>
        </p:nvSpPr>
        <p:spPr>
          <a:xfrm>
            <a:off x="3018623" y="3529247"/>
            <a:ext cx="784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Download the “competition” folder to your local PC.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It should download as a ZIP file.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2e2ab6e898f34c66_2_271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2. Upload the materials to your Google Drive</a:t>
            </a:r>
            <a:endParaRPr/>
          </a:p>
        </p:txBody>
      </p:sp>
      <p:sp>
        <p:nvSpPr>
          <p:cNvPr id="226" name="Google Shape;226;h2e2ab6e898f34c66_2_271"/>
          <p:cNvSpPr txBox="1"/>
          <p:nvPr>
            <p:ph idx="1" type="body"/>
          </p:nvPr>
        </p:nvSpPr>
        <p:spPr>
          <a:xfrm>
            <a:off x="620628" y="751738"/>
            <a:ext cx="109245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Unzip the downloaded ZIP file.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Then, upload the “competition” folder to your MyDrive.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(It can be anywhere in your MyDrive, but you will need to adjust the PATH accordingly later)</a:t>
            </a:r>
            <a:endParaRPr/>
          </a:p>
        </p:txBody>
      </p:sp>
      <p:pic>
        <p:nvPicPr>
          <p:cNvPr descr="グラフィカル ユーザー インターフェイス, テキスト, アプリケーション, チャットまたはテキスト メッセージ&#10;&#10;AI 生成コンテンツは誤りを含む可能性があります。" id="227" name="Google Shape;227;h2e2ab6e898f34c66_2_271"/>
          <p:cNvPicPr preferRelativeResize="0"/>
          <p:nvPr/>
        </p:nvPicPr>
        <p:blipFill rotWithShape="1">
          <a:blip r:embed="rId3">
            <a:alphaModFix/>
          </a:blip>
          <a:srcRect b="8487" l="0" r="0" t="12123"/>
          <a:stretch/>
        </p:blipFill>
        <p:spPr>
          <a:xfrm>
            <a:off x="2142678" y="2338150"/>
            <a:ext cx="7772410" cy="400761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h2e2ab6e898f34c66_2_271"/>
          <p:cNvSpPr txBox="1"/>
          <p:nvPr/>
        </p:nvSpPr>
        <p:spPr>
          <a:xfrm>
            <a:off x="291694" y="5138400"/>
            <a:ext cx="42762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Upload the “competition” folder from your local PC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h2e2ab6e898f34c66_2_271"/>
          <p:cNvCxnSpPr/>
          <p:nvPr/>
        </p:nvCxnSpPr>
        <p:spPr>
          <a:xfrm flipH="1" rot="10800000">
            <a:off x="1150544" y="5718000"/>
            <a:ext cx="3708900" cy="95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2e2ab6e898f34c66_2_402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3. Open the tutorial.ipynb inside “competition” folder</a:t>
            </a:r>
            <a:endParaRPr/>
          </a:p>
        </p:txBody>
      </p:sp>
      <p:sp>
        <p:nvSpPr>
          <p:cNvPr id="236" name="Google Shape;236;h2e2ab6e898f34c66_2_402"/>
          <p:cNvSpPr txBox="1"/>
          <p:nvPr>
            <p:ph idx="1" type="body"/>
          </p:nvPr>
        </p:nvSpPr>
        <p:spPr>
          <a:xfrm>
            <a:off x="620628" y="751737"/>
            <a:ext cx="10924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Scroll down a bit and change the PATH so that it points to the directory where you uploaded the “competition” folder</a:t>
            </a:r>
            <a:endParaRPr/>
          </a:p>
        </p:txBody>
      </p:sp>
      <p:pic>
        <p:nvPicPr>
          <p:cNvPr descr="グラフィカル ユーザー インターフェイス, テキスト, アプリケーション, メール&#10;&#10;AI 生成コンテンツは誤りを含む可能性があります。" id="237" name="Google Shape;237;h2e2ab6e898f34c66_2_4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000" y="1518863"/>
            <a:ext cx="7344635" cy="497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2e2ab6e898f34c66_2_531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4. Run the tutorial to create submission.csv</a:t>
            </a:r>
            <a:endParaRPr/>
          </a:p>
        </p:txBody>
      </p:sp>
      <p:sp>
        <p:nvSpPr>
          <p:cNvPr id="244" name="Google Shape;244;h2e2ab6e898f34c66_2_531"/>
          <p:cNvSpPr txBox="1"/>
          <p:nvPr>
            <p:ph idx="1" type="body"/>
          </p:nvPr>
        </p:nvSpPr>
        <p:spPr>
          <a:xfrm>
            <a:off x="620628" y="751737"/>
            <a:ext cx="10924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Please run all the cells in“tutorial.ipynb” to create “submission.csv”</a:t>
            </a:r>
            <a:endParaRPr/>
          </a:p>
        </p:txBody>
      </p:sp>
      <p:sp>
        <p:nvSpPr>
          <p:cNvPr id="245" name="Google Shape;245;h2e2ab6e898f34c66_2_531"/>
          <p:cNvSpPr txBox="1"/>
          <p:nvPr/>
        </p:nvSpPr>
        <p:spPr>
          <a:xfrm>
            <a:off x="4370750" y="5938150"/>
            <a:ext cx="8022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Run “tutorial.ipynb” to create “submission.csv”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h2e2ab6e898f34c66_2_531" title="スクリーンショット 2025-10-28 13.36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825" y="1388937"/>
            <a:ext cx="11346637" cy="454862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7" name="Google Shape;247;h2e2ab6e898f34c66_2_531"/>
          <p:cNvSpPr/>
          <p:nvPr/>
        </p:nvSpPr>
        <p:spPr>
          <a:xfrm>
            <a:off x="2607174" y="1846525"/>
            <a:ext cx="880800" cy="33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2e2ab6e898f34c66_2_531"/>
          <p:cNvSpPr txBox="1"/>
          <p:nvPr/>
        </p:nvSpPr>
        <p:spPr>
          <a:xfrm>
            <a:off x="3734625" y="1689325"/>
            <a:ext cx="8022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You can run all the cells from here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2e2ab6e898f34c66_2_663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5. Download the submission.csv</a:t>
            </a:r>
            <a:endParaRPr/>
          </a:p>
        </p:txBody>
      </p:sp>
      <p:sp>
        <p:nvSpPr>
          <p:cNvPr id="255" name="Google Shape;255;h2e2ab6e898f34c66_2_663"/>
          <p:cNvSpPr txBox="1"/>
          <p:nvPr>
            <p:ph idx="1" type="body"/>
          </p:nvPr>
        </p:nvSpPr>
        <p:spPr>
          <a:xfrm>
            <a:off x="620628" y="751737"/>
            <a:ext cx="10924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You will find a new folder named “output”. Download the “submission.csv” inside the folder.</a:t>
            </a:r>
            <a:endParaRPr/>
          </a:p>
        </p:txBody>
      </p:sp>
      <p:pic>
        <p:nvPicPr>
          <p:cNvPr descr="グラフィカル ユーザー インターフェイス&#10;&#10;AI 生成コンテンツは誤りを含む可能性があります。" id="256" name="Google Shape;256;h2e2ab6e898f34c66_2_6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00" y="1670244"/>
            <a:ext cx="10110880" cy="42529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7" name="Google Shape;257;h2e2ab6e898f34c66_2_663"/>
          <p:cNvSpPr/>
          <p:nvPr/>
        </p:nvSpPr>
        <p:spPr>
          <a:xfrm>
            <a:off x="2155572" y="3480925"/>
            <a:ext cx="1568100" cy="3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h2e2ab6e898f34c66_2_663" title="スクリーンショット 2025-10-28 9.43.00.png"/>
          <p:cNvPicPr preferRelativeResize="0"/>
          <p:nvPr/>
        </p:nvPicPr>
        <p:blipFill rotWithShape="1">
          <a:blip r:embed="rId4">
            <a:alphaModFix/>
          </a:blip>
          <a:srcRect b="0" l="0" r="44181" t="0"/>
          <a:stretch/>
        </p:blipFill>
        <p:spPr>
          <a:xfrm>
            <a:off x="6139125" y="2614575"/>
            <a:ext cx="5808476" cy="40800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9" name="Google Shape;259;h2e2ab6e898f34c66_2_663"/>
          <p:cNvSpPr/>
          <p:nvPr/>
        </p:nvSpPr>
        <p:spPr>
          <a:xfrm>
            <a:off x="8001397" y="4150900"/>
            <a:ext cx="1568100" cy="3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2e2ab6e898f34c66_2_663"/>
          <p:cNvSpPr txBox="1"/>
          <p:nvPr/>
        </p:nvSpPr>
        <p:spPr>
          <a:xfrm>
            <a:off x="1159571" y="4984231"/>
            <a:ext cx="66009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 inside the </a:t>
            </a:r>
            <a:r>
              <a:rPr b="1" lang="en-US" sz="2400">
                <a:solidFill>
                  <a:srgbClr val="FF0000"/>
                </a:solidFill>
              </a:rPr>
              <a:t>“output”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folder and download “submission.csv” to your local PC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75c23df1bd692d61_0_149"/>
          <p:cNvSpPr txBox="1"/>
          <p:nvPr>
            <p:ph type="title"/>
          </p:nvPr>
        </p:nvSpPr>
        <p:spPr>
          <a:xfrm>
            <a:off x="619916" y="3169827"/>
            <a:ext cx="109260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How to Submit</a:t>
            </a:r>
            <a:endParaRPr/>
          </a:p>
        </p:txBody>
      </p:sp>
      <p:sp>
        <p:nvSpPr>
          <p:cNvPr id="266" name="Google Shape;266;h75c23df1bd692d61_0_149"/>
          <p:cNvSpPr txBox="1"/>
          <p:nvPr>
            <p:ph idx="4294967295" type="sldNum"/>
          </p:nvPr>
        </p:nvSpPr>
        <p:spPr>
          <a:xfrm>
            <a:off x="11626850" y="6656388"/>
            <a:ext cx="566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グラフィカル ユーザー インターフェイス, アプリケーション&#10;&#10;AI 生成コンテンツは誤りを含む可能性があります。" id="272" name="Google Shape;272;h2e2ab6e898f34c66_2_7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47" y="1352222"/>
            <a:ext cx="7771403" cy="369038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h2e2ab6e898f34c66_2_796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Submit on Omnicampus</a:t>
            </a:r>
            <a:endParaRPr/>
          </a:p>
        </p:txBody>
      </p:sp>
      <p:sp>
        <p:nvSpPr>
          <p:cNvPr id="274" name="Google Shape;274;h2e2ab6e898f34c66_2_796"/>
          <p:cNvSpPr txBox="1"/>
          <p:nvPr>
            <p:ph idx="1" type="body"/>
          </p:nvPr>
        </p:nvSpPr>
        <p:spPr>
          <a:xfrm>
            <a:off x="620628" y="751738"/>
            <a:ext cx="10924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Login to Omnicampus to submit your prediction and see the score.</a:t>
            </a:r>
            <a:endParaRPr/>
          </a:p>
        </p:txBody>
      </p:sp>
      <p:pic>
        <p:nvPicPr>
          <p:cNvPr descr="グラフィカル ユーザー インターフェイス, アプリケーション&#10;&#10;AI 生成コンテンツは誤りを含む可能性があります。" id="275" name="Google Shape;275;h2e2ab6e898f34c66_2_7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1618" y="2581836"/>
            <a:ext cx="9011295" cy="376564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h2e2ab6e898f34c66_2_796"/>
          <p:cNvSpPr/>
          <p:nvPr/>
        </p:nvSpPr>
        <p:spPr>
          <a:xfrm>
            <a:off x="708754" y="4801501"/>
            <a:ext cx="21822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2e2ab6e898f34c66_2_796"/>
          <p:cNvSpPr txBox="1"/>
          <p:nvPr/>
        </p:nvSpPr>
        <p:spPr>
          <a:xfrm>
            <a:off x="237304" y="5043083"/>
            <a:ext cx="53076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1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Click “</a:t>
            </a:r>
            <a:r>
              <a:rPr b="1" lang="en-US" sz="2400">
                <a:solidFill>
                  <a:srgbClr val="FF0000"/>
                </a:solidFill>
              </a:rPr>
              <a:t>C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ompetition”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h2e2ab6e898f34c66_2_796"/>
          <p:cNvSpPr txBox="1"/>
          <p:nvPr/>
        </p:nvSpPr>
        <p:spPr>
          <a:xfrm>
            <a:off x="4261561" y="3615751"/>
            <a:ext cx="3499800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Click blue button and select the CSV file you want to submit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Click “Submit”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h2e2ab6e898f34c66_2_796"/>
          <p:cNvSpPr/>
          <p:nvPr/>
        </p:nvSpPr>
        <p:spPr>
          <a:xfrm>
            <a:off x="3636951" y="3485808"/>
            <a:ext cx="982500" cy="15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h2e2ab6e898f34c66_2_796"/>
          <p:cNvSpPr/>
          <p:nvPr/>
        </p:nvSpPr>
        <p:spPr>
          <a:xfrm>
            <a:off x="3646606" y="3664397"/>
            <a:ext cx="309900" cy="15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h2e2ab6e898f34c66_2_796"/>
          <p:cNvSpPr txBox="1"/>
          <p:nvPr/>
        </p:nvSpPr>
        <p:spPr>
          <a:xfrm>
            <a:off x="7421874" y="1665336"/>
            <a:ext cx="3775200" cy="9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Check the leaderboard from here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h2e2ab6e898f34c66_2_796"/>
          <p:cNvCxnSpPr/>
          <p:nvPr/>
        </p:nvCxnSpPr>
        <p:spPr>
          <a:xfrm flipH="1">
            <a:off x="9264249" y="2192736"/>
            <a:ext cx="408600" cy="91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75c23df1bd692d61_0_154"/>
          <p:cNvSpPr txBox="1"/>
          <p:nvPr>
            <p:ph type="title"/>
          </p:nvPr>
        </p:nvSpPr>
        <p:spPr>
          <a:xfrm>
            <a:off x="633788" y="2697273"/>
            <a:ext cx="109260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How to Submit Your Code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(if aiming for Honors/Outstanding)</a:t>
            </a:r>
            <a:endParaRPr/>
          </a:p>
        </p:txBody>
      </p:sp>
      <p:sp>
        <p:nvSpPr>
          <p:cNvPr id="288" name="Google Shape;288;h75c23df1bd692d61_0_154"/>
          <p:cNvSpPr txBox="1"/>
          <p:nvPr>
            <p:ph idx="4294967295" type="sldNum"/>
          </p:nvPr>
        </p:nvSpPr>
        <p:spPr>
          <a:xfrm>
            <a:off x="11626850" y="6656388"/>
            <a:ext cx="566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h1cd209ec7aa9b8c0_1_0" title="Screenshot 2026-10-02 at 18.02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51" y="2122288"/>
            <a:ext cx="6632434" cy="36201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h1cd209ec7aa9b8c0_1_0"/>
          <p:cNvPicPr preferRelativeResize="0"/>
          <p:nvPr/>
        </p:nvPicPr>
        <p:blipFill rotWithShape="1">
          <a:blip r:embed="rId4">
            <a:alphaModFix/>
          </a:blip>
          <a:srcRect b="0" l="0" r="51284" t="0"/>
          <a:stretch/>
        </p:blipFill>
        <p:spPr>
          <a:xfrm>
            <a:off x="6519625" y="2241525"/>
            <a:ext cx="5321799" cy="4341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6" name="Google Shape;296;h1cd209ec7aa9b8c0_1_0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600"/>
              <a:t>Submitting Your Code (e.g. Colab)</a:t>
            </a:r>
            <a:endParaRPr/>
          </a:p>
        </p:txBody>
      </p:sp>
      <p:sp>
        <p:nvSpPr>
          <p:cNvPr id="297" name="Google Shape;297;h1cd209ec7aa9b8c0_1_0"/>
          <p:cNvSpPr txBox="1"/>
          <p:nvPr>
            <p:ph idx="1" type="body"/>
          </p:nvPr>
        </p:nvSpPr>
        <p:spPr>
          <a:xfrm>
            <a:off x="620628" y="751738"/>
            <a:ext cx="109245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you are aiming to get selected as Honors/Outstanding Students, you </a:t>
            </a:r>
            <a:r>
              <a:rPr b="1" lang="en-US">
                <a:solidFill>
                  <a:schemeClr val="accent2"/>
                </a:solidFill>
              </a:rPr>
              <a:t>MUST</a:t>
            </a:r>
            <a:r>
              <a:rPr lang="en-US"/>
              <a:t> submit your code as well.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e.g. if you are writing your code using “tutorial.ipynb”.... 👇</a:t>
            </a:r>
            <a:endParaRPr/>
          </a:p>
        </p:txBody>
      </p:sp>
      <p:sp>
        <p:nvSpPr>
          <p:cNvPr id="298" name="Google Shape;298;h1cd209ec7aa9b8c0_1_0"/>
          <p:cNvSpPr/>
          <p:nvPr/>
        </p:nvSpPr>
        <p:spPr>
          <a:xfrm>
            <a:off x="2583447" y="3919250"/>
            <a:ext cx="1568100" cy="3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1cd209ec7aa9b8c0_1_0"/>
          <p:cNvSpPr txBox="1"/>
          <p:nvPr/>
        </p:nvSpPr>
        <p:spPr>
          <a:xfrm>
            <a:off x="713700" y="5742400"/>
            <a:ext cx="56295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2400">
                <a:solidFill>
                  <a:srgbClr val="FF0000"/>
                </a:solidFill>
              </a:rPr>
              <a:t>Run the last cell in “tutorial.ipynb”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1cd209ec7aa9b8c0_1_0"/>
          <p:cNvSpPr txBox="1"/>
          <p:nvPr/>
        </p:nvSpPr>
        <p:spPr>
          <a:xfrm>
            <a:off x="7622600" y="5641575"/>
            <a:ext cx="56295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2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US" sz="2400">
                <a:solidFill>
                  <a:srgbClr val="FF0000"/>
                </a:solidFill>
              </a:rPr>
              <a:t>Download “tutorial.zip” </a:t>
            </a:r>
            <a:endParaRPr b="1" sz="24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to your local PC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1cd209ec7aa9b8c0_1_0"/>
          <p:cNvSpPr/>
          <p:nvPr/>
        </p:nvSpPr>
        <p:spPr>
          <a:xfrm>
            <a:off x="8513522" y="4219550"/>
            <a:ext cx="1568100" cy="30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cd209ec7aa9b8c0_1_41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600"/>
              <a:t>Submitting Your Code (e.g. Colab)</a:t>
            </a:r>
            <a:endParaRPr/>
          </a:p>
        </p:txBody>
      </p:sp>
      <p:pic>
        <p:nvPicPr>
          <p:cNvPr id="308" name="Google Shape;308;h1cd209ec7aa9b8c0_1_41" title="Screenshot 2026-10-02 at 15.09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050" y="1471150"/>
            <a:ext cx="7771402" cy="3517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h1cd209ec7aa9b8c0_1_41" title="Screenshot 2026-10-02 at 15.11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1625" y="2581825"/>
            <a:ext cx="9011302" cy="36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h1cd209ec7aa9b8c0_1_41"/>
          <p:cNvSpPr txBox="1"/>
          <p:nvPr>
            <p:ph idx="1" type="body"/>
          </p:nvPr>
        </p:nvSpPr>
        <p:spPr>
          <a:xfrm>
            <a:off x="620628" y="751738"/>
            <a:ext cx="10924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/>
              <a:t>If you are aiming to get selected as Honors/Outstanding Students, you </a:t>
            </a:r>
            <a:r>
              <a:rPr b="1" lang="en-US">
                <a:solidFill>
                  <a:schemeClr val="accent2"/>
                </a:solidFill>
              </a:rPr>
              <a:t>MUST</a:t>
            </a:r>
            <a:r>
              <a:rPr lang="en-US"/>
              <a:t> submit your code as well.</a:t>
            </a:r>
            <a:endParaRPr/>
          </a:p>
        </p:txBody>
      </p:sp>
      <p:sp>
        <p:nvSpPr>
          <p:cNvPr id="311" name="Google Shape;311;h1cd209ec7aa9b8c0_1_41"/>
          <p:cNvSpPr/>
          <p:nvPr/>
        </p:nvSpPr>
        <p:spPr>
          <a:xfrm>
            <a:off x="764754" y="4577526"/>
            <a:ext cx="21822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h1cd209ec7aa9b8c0_1_41"/>
          <p:cNvSpPr txBox="1"/>
          <p:nvPr/>
        </p:nvSpPr>
        <p:spPr>
          <a:xfrm>
            <a:off x="340054" y="4833083"/>
            <a:ext cx="53076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F0000"/>
                </a:solidFill>
              </a:rPr>
              <a:t>3</a:t>
            </a:r>
            <a:r>
              <a:rPr b="1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Click “</a:t>
            </a:r>
            <a:r>
              <a:rPr b="1" lang="en-US" sz="1900">
                <a:solidFill>
                  <a:srgbClr val="FF0000"/>
                </a:solidFill>
              </a:rPr>
              <a:t>C</a:t>
            </a:r>
            <a:r>
              <a:rPr b="1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ompetition (.zip)”</a:t>
            </a:r>
            <a:endParaRPr b="1" i="0" sz="1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1cd209ec7aa9b8c0_1_41"/>
          <p:cNvSpPr txBox="1"/>
          <p:nvPr/>
        </p:nvSpPr>
        <p:spPr>
          <a:xfrm>
            <a:off x="4139661" y="3509046"/>
            <a:ext cx="3499800" cy="2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4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Click blue button and select the </a:t>
            </a:r>
            <a:r>
              <a:rPr b="1" lang="en-US" sz="2400">
                <a:solidFill>
                  <a:srgbClr val="FF0000"/>
                </a:solidFill>
              </a:rPr>
              <a:t>ZIP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file you want to submit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</a:rPr>
              <a:t>5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Click “Submit”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1cd209ec7aa9b8c0_1_41"/>
          <p:cNvSpPr/>
          <p:nvPr/>
        </p:nvSpPr>
        <p:spPr>
          <a:xfrm>
            <a:off x="3646600" y="3420430"/>
            <a:ext cx="795900" cy="15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h1cd209ec7aa9b8c0_1_41"/>
          <p:cNvSpPr/>
          <p:nvPr/>
        </p:nvSpPr>
        <p:spPr>
          <a:xfrm>
            <a:off x="3646600" y="3577625"/>
            <a:ext cx="277800" cy="15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75c23df1bd692d61_0_72"/>
          <p:cNvSpPr txBox="1"/>
          <p:nvPr>
            <p:ph type="title"/>
          </p:nvPr>
        </p:nvSpPr>
        <p:spPr>
          <a:xfrm>
            <a:off x="619919" y="79514"/>
            <a:ext cx="10925700" cy="53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Submission Deadline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75c23df1bd692d61_0_72"/>
          <p:cNvSpPr txBox="1"/>
          <p:nvPr>
            <p:ph idx="1" type="body"/>
          </p:nvPr>
        </p:nvSpPr>
        <p:spPr>
          <a:xfrm>
            <a:off x="619925" y="2467275"/>
            <a:ext cx="10925700" cy="14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Deadline: November 20th 1:00 AM UTC</a:t>
            </a:r>
            <a:endParaRPr b="1" sz="4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067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Submissions open: October 2nd 11:00 AM UTC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75c23df1bd692d61_0_72"/>
          <p:cNvSpPr txBox="1"/>
          <p:nvPr>
            <p:ph idx="12" type="sldNum"/>
          </p:nvPr>
        </p:nvSpPr>
        <p:spPr>
          <a:xfrm>
            <a:off x="11580044" y="6561855"/>
            <a:ext cx="566400" cy="201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2e2ab6e898f34c66_2_933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330" name="Google Shape;330;h2e2ab6e898f34c66_2_933"/>
          <p:cNvSpPr txBox="1"/>
          <p:nvPr>
            <p:ph idx="1" type="body"/>
          </p:nvPr>
        </p:nvSpPr>
        <p:spPr>
          <a:xfrm>
            <a:off x="620628" y="751737"/>
            <a:ext cx="10924500" cy="27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You can use the “tutorial.ipynb” to customize your model.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Read the README.ipynb in “competition” folder for the details and rules of the competition.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rPr lang="en-US"/>
              <a:t>Take a look at “HomeCredit_columns_descriptions.xlsx” for details about the dataset.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2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Note: About the tutorial.ipynb</a:t>
            </a:r>
            <a:endParaRPr/>
          </a:p>
        </p:txBody>
      </p:sp>
      <p:sp>
        <p:nvSpPr>
          <p:cNvPr id="337" name="Google Shape;337;p82"/>
          <p:cNvSpPr txBox="1"/>
          <p:nvPr>
            <p:ph idx="1" type="body"/>
          </p:nvPr>
        </p:nvSpPr>
        <p:spPr>
          <a:xfrm>
            <a:off x="620628" y="751737"/>
            <a:ext cx="109245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The tutorial.ipynb notebook is a simple baseline designed for beginners. </a:t>
            </a:r>
            <a:br>
              <a:rPr lang="en-US"/>
            </a:br>
            <a:r>
              <a:rPr lang="en-US"/>
              <a:t>By running it, you can generate a CSV file ready for submission to Omnicampus.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/>
              <a:t>You can improve the score by </a:t>
            </a:r>
            <a:r>
              <a:rPr b="1" lang="en-US"/>
              <a:t>adding more features, changing the model, and tuning the hyper-parameters</a:t>
            </a:r>
            <a:r>
              <a:rPr lang="en-US"/>
              <a:t>.</a:t>
            </a:r>
            <a:endParaRPr/>
          </a:p>
        </p:txBody>
      </p:sp>
      <p:pic>
        <p:nvPicPr>
          <p:cNvPr descr="グラフィカル ユーザー インターフェイス, テキスト, アプリケーション, メール&#10;&#10;AI 生成コンテンツは誤りを含む可能性があります。" id="338" name="Google Shape;33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3542" y="2848070"/>
            <a:ext cx="9286504" cy="359913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/>
          <p:nvPr/>
        </p:nvSpPr>
        <p:spPr>
          <a:xfrm>
            <a:off x="2679419" y="2818850"/>
            <a:ext cx="2262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more features. Use visualizations to understand the data better.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"/>
          <p:cNvSpPr txBox="1"/>
          <p:nvPr>
            <p:ph type="title"/>
          </p:nvPr>
        </p:nvSpPr>
        <p:spPr>
          <a:xfrm>
            <a:off x="620629" y="159493"/>
            <a:ext cx="109245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Competition Workflow (How to improve your model)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189744" y="1695900"/>
            <a:ext cx="2697900" cy="1027800"/>
          </a:xfrm>
          <a:prstGeom prst="chevron">
            <a:avLst>
              <a:gd fmla="val 50000" name="adj"/>
            </a:avLst>
          </a:prstGeom>
          <a:solidFill>
            <a:srgbClr val="FDBF2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Submit the baseline code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2461919" y="1695900"/>
            <a:ext cx="2697900" cy="1027800"/>
          </a:xfrm>
          <a:prstGeom prst="chevron">
            <a:avLst>
              <a:gd fmla="val 50000" name="adj"/>
            </a:avLst>
          </a:prstGeom>
          <a:solidFill>
            <a:srgbClr val="60B2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a new feature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747844" y="1695900"/>
            <a:ext cx="2697900" cy="1027800"/>
          </a:xfrm>
          <a:prstGeom prst="chevron">
            <a:avLst>
              <a:gd fmla="val 50000" name="adj"/>
            </a:avLst>
          </a:prstGeom>
          <a:solidFill>
            <a:srgbClr val="F755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your model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9305944" y="1695900"/>
            <a:ext cx="2697900" cy="1027800"/>
          </a:xfrm>
          <a:prstGeom prst="chevron">
            <a:avLst>
              <a:gd fmla="val 50000" name="adj"/>
            </a:avLst>
          </a:prstGeom>
          <a:solidFill>
            <a:srgbClr val="6BE6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 new features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7021769" y="1695900"/>
            <a:ext cx="2697900" cy="1027800"/>
          </a:xfrm>
          <a:prstGeom prst="chevron">
            <a:avLst>
              <a:gd fmla="val 50000" name="adj"/>
            </a:avLst>
          </a:prstGeom>
          <a:solidFill>
            <a:srgbClr val="4949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Tune your model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4"/>
          <p:cNvCxnSpPr>
            <a:stCxn id="349" idx="0"/>
          </p:cNvCxnSpPr>
          <p:nvPr/>
        </p:nvCxnSpPr>
        <p:spPr>
          <a:xfrm rot="10800000">
            <a:off x="10396444" y="1273800"/>
            <a:ext cx="1500" cy="42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4"/>
          <p:cNvCxnSpPr/>
          <p:nvPr/>
        </p:nvCxnSpPr>
        <p:spPr>
          <a:xfrm rot="10800000">
            <a:off x="6116044" y="1243200"/>
            <a:ext cx="4281900" cy="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24"/>
          <p:cNvSpPr txBox="1"/>
          <p:nvPr/>
        </p:nvSpPr>
        <p:spPr>
          <a:xfrm>
            <a:off x="407244" y="2818850"/>
            <a:ext cx="2262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 run the baseline, and you can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submit the baseline code to join the competition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7246619" y="817325"/>
            <a:ext cx="2119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951419" y="2818850"/>
            <a:ext cx="2262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a new model, like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AdaBoost, XGBoost, CatBoost or LightGBM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ensemble of them (advanced)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7239269" y="2818850"/>
            <a:ext cx="2262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Tune the hyper-</a:t>
            </a:r>
            <a:b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parameters of the model using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grid search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Optuna (advanced)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9527119" y="2818850"/>
            <a:ext cx="22629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Create new features from existing ones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It can be something meaningful, or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possible cross features (advanced)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24"/>
          <p:cNvCxnSpPr/>
          <p:nvPr/>
        </p:nvCxnSpPr>
        <p:spPr>
          <a:xfrm rot="10800000">
            <a:off x="8375094" y="1275725"/>
            <a:ext cx="1500" cy="42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9" name="Google Shape;359;p24"/>
          <p:cNvCxnSpPr/>
          <p:nvPr/>
        </p:nvCxnSpPr>
        <p:spPr>
          <a:xfrm rot="10800000">
            <a:off x="6096044" y="1275725"/>
            <a:ext cx="1500" cy="422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81"/>
          <p:cNvSpPr txBox="1"/>
          <p:nvPr>
            <p:ph idx="4294967295" type="sldNum"/>
          </p:nvPr>
        </p:nvSpPr>
        <p:spPr>
          <a:xfrm>
            <a:off x="11626850" y="6656388"/>
            <a:ext cx="566738" cy="201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ci_asean">
  <a:themeElements>
    <a:clrScheme name="Custom 1">
      <a:dk1>
        <a:srgbClr val="000000"/>
      </a:dk1>
      <a:lt1>
        <a:srgbClr val="FFFFFF"/>
      </a:lt1>
      <a:dk2>
        <a:srgbClr val="062640"/>
      </a:dk2>
      <a:lt2>
        <a:srgbClr val="EEECE1"/>
      </a:lt2>
      <a:accent1>
        <a:srgbClr val="1A99FF"/>
      </a:accent1>
      <a:accent2>
        <a:srgbClr val="FF3A33"/>
      </a:accent2>
      <a:accent3>
        <a:srgbClr val="0063B2"/>
      </a:accent3>
      <a:accent4>
        <a:srgbClr val="C6CC00"/>
      </a:accent4>
      <a:accent5>
        <a:srgbClr val="EAC434"/>
      </a:accent5>
      <a:accent6>
        <a:srgbClr val="062640"/>
      </a:accent6>
      <a:hlink>
        <a:srgbClr val="178AE5"/>
      </a:hlink>
      <a:folHlink>
        <a:srgbClr val="FFA51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2021-02-04T16:57:08Z</dcterms:created>
  <dc:creator>hayabusa</dc:creator>
</cp:coreProperties>
</file>